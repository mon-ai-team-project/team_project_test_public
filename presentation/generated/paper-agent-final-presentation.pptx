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SLIDE">
    <p:bg>
      <p:bgPr>
        <a:solidFill>
          <a:srgbClr val="6A6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_SLIDE">
    <p:bg>
      <p:bgPr>
        <a:solidFill>
          <a:srgbClr val="6A65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612648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Військовий інститут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телекомунікацій та інформатизації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імені Героїв Крут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274320" y="1691640"/>
            <a:ext cx="84124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Дисципліна: AI Agent 기반 도메인 문제 해결 프로젝트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Лекційне заняття</a:t>
            </a:r>
            <a:endParaRPr lang="en-US" sz="2000" dirty="0"/>
          </a:p>
          <a:p>
            <a:pPr algn="ctr" indent="0" marL="0">
              <a:buNone/>
            </a:pP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Змістовий модуль Final Team Project</a:t>
            </a:r>
            <a:endParaRPr lang="en-US" sz="2000" dirty="0"/>
          </a:p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Заняття Paper Agent: Traceable Multi-Agent Literature Review Automation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0" y="3840480"/>
            <a:ext cx="4114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Старший викладач кафедри Комп'ютерних наук та інтелектуальних технологій</a:t>
            </a:r>
            <a:endParaRPr lang="en-US" sz="1200" dirty="0"/>
          </a:p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майор	Дмитро УСТИНОВ</a:t>
            </a:r>
            <a:endParaRPr lang="en-US" sz="12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15384" y="36576"/>
            <a:ext cx="420624" cy="5212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발표 구성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문제 정의와 사용자</a:t>
            </a:r>
            <a:endParaRPr lang="en-US" sz="1800" dirty="0"/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Multi-Agent 아키텍처</a:t>
            </a:r>
            <a:endParaRPr lang="en-US" sz="1800" dirty="0"/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Cloudflare 기반 시스템 구현</a:t>
            </a:r>
            <a:endParaRPr lang="en-US" sz="1800" dirty="0"/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Live demo 경로</a:t>
            </a:r>
            <a:endParaRPr lang="en-US" sz="1800" dirty="0"/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Benchmark와 baseline 비교</a:t>
            </a:r>
            <a:endParaRPr lang="en-US" sz="1800" dirty="0"/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한계와 윤리</a:t>
            </a:r>
            <a:endParaRPr lang="en-US" sz="1800" dirty="0"/>
          </a:p>
          <a:p>
            <a:pPr>
              <a:spcBef>
                <a:spcPts val="800"/>
              </a:spcBef>
              <a:spcAft>
                <a:spcPts val="4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최종 결론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6A653A"/>
          </a:solidFill>
          <a:ln/>
          <a:effectLst>
            <a:outerShdw sx="100000" sy="100000" kx="0" ky="0" algn="bl" rotWithShape="0" blurRad="50800" dist="25400" dir="5400000">
              <a:srgbClr val="000000">
                <a:alpha val="3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Problem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Literature Review Bottleneck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Business-school literature review는 여러 작업이 분리되어 있어 시간이 많이 소요됩니다.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Search: WoS / OpenAlex 후보 검색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Filter: Top Journal Pool 기준 필터링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Verify: DOI / Crossref metadata 확인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Access: Unpaywall OA PDF 상태 확인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Rank: relevance, journal quality, recency, citation 기반 정렬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Report: CSV / Markdown / XLSX / PDF 산출물 생성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3434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단일 LLM 호출은 중간 오류와 hallucination을 숨길 수 있습니다.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6A653A"/>
          </a:solidFill>
          <a:ln/>
          <a:effectLst>
            <a:outerShdw sx="100000" sy="100000" kx="0" ky="0" algn="bl" rotWithShape="0" blurRad="50800" dist="25400" dir="5400000">
              <a:srgbClr val="000000">
                <a:alpha val="3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Agent Architecture</a:t>
            </a:r>
            <a:endParaRPr lang="en-US" sz="3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12-Step Literature Review Workflow</a:t>
            </a:r>
            <a:endParaRPr lang="en-US" sz="2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82296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65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Agent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65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Status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65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Planner Agent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Implemented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Journal Selector Agent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Implemented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3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Search/Retriever Agent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Implemented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4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Verifier Agent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Implemented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5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Open Access Agent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Implemented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6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Storage Worker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Implemented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7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Evaluation Agent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Implemented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8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Relevance Agent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Partial / opt-in semantic path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9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Ranking Agent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Implemented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10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Critic Agent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Rule-based default / LLM opt-in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11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Report Agent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Implemented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12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Dashboard Delivery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Implemented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Why Multi-Agent?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각 단계는 서로 다른 실패 모드를 가집니다.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Search recall failure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Journal allowlist mismatch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DOI metadata mismatch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OA PDF unavailable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Ranking score bias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Critic review incompleteness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3434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분리된 agent trace는 오류 위치를 확인하고 재현성을 높입니다.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6A653A"/>
          </a:solidFill>
          <a:ln/>
          <a:effectLst>
            <a:outerShdw sx="100000" sy="100000" kx="0" ky="0" algn="bl" rotWithShape="0" blurRad="50800" dist="25400" dir="5400000">
              <a:srgbClr val="000000">
                <a:alpha val="3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System Implementation</a:t>
            </a:r>
            <a:endParaRPr lang="en-US" sz="3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Cloudflare Deployment</a:t>
            </a:r>
            <a:endParaRPr lang="en-US" sz="2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822960"/>
          <a:ext cx="822960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Component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65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</a:rPr>
                        <a:t>Role</a:t>
                      </a:r>
                      <a:endParaRPr lang="en-US" sz="16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A653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Cloudflare Pages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Dashboard UI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Cloudflare Worker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Backend API and search workflow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Cloudflare D1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Jobs, papers, evaluations, traces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Cloudflare R2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Report artifacts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Remote MCP Worker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333333"/>
                          </a:solidFill>
                        </a:rPr>
                        <a:t>Read-only inspection tools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/>
          <p:nvPr/>
        </p:nvSpPr>
        <p:spPr>
          <a:xfrm>
            <a:off x="457200" y="320040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External tools:</a:t>
            </a:r>
            <a:endParaRPr lang="en-US" sz="1800" dirty="0"/>
          </a:p>
        </p:txBody>
      </p:sp>
      <p:sp>
        <p:nvSpPr>
          <p:cNvPr id="5" name="Text 2"/>
          <p:cNvSpPr/>
          <p:nvPr/>
        </p:nvSpPr>
        <p:spPr>
          <a:xfrm>
            <a:off x="457200" y="4389120"/>
            <a:ext cx="8229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Web of Science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OpenAlex fallback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Crossref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Unpaywall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Google Drive conditional path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Dashboard Routes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/dashboard/research: run search, ranked papers, paper detail, report preview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/dashboard/ops: diagnostics, provider readiness, D1/R2 state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/dashboard/evaluation: baseline comparison and implementation status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6A653A"/>
          </a:solidFill>
          <a:ln/>
          <a:effectLst>
            <a:outerShdw sx="100000" sy="100000" kx="0" ky="0" algn="bl" rotWithShape="0" blurRad="50800" dist="25400" dir="5400000">
              <a:srgbClr val="000000">
                <a:alpha val="3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Demo</a:t>
            </a:r>
            <a:endParaRPr lang="en-US" sz="3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Live Demo Sequence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1. Open Research dashboard
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2. Run a conservative keyword search
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3. Check 12-stage trace
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4. Inspect Ranked Papers and Paper Detail
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5. Download CSV / Markdown / XLSX / PDF
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6. Open Ops diagnostics
</a:t>
            </a:r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7. Open Evaluation benchmark snapshot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Fallback: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Use latest completed job ID if provider quota or network latency occurs.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6A653A"/>
          </a:solidFill>
          <a:ln/>
          <a:effectLst>
            <a:outerShdw sx="100000" sy="100000" kx="0" ky="0" algn="bl" rotWithShape="0" blurRad="50800" dist="25400" dir="5400000">
              <a:srgbClr val="000000">
                <a:alpha val="3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 Benchmark</a:t>
            </a:r>
            <a:endParaRPr lang="en-US" sz="3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Evaluation Design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Benchmark assets are repository-controlled.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20 task structure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DOI-backed gold labels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Rule-based baseline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Single-LLM baseline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Proposed Multi-Agent results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Reproducible scripts and CSV/JSON outputs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3434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Metrics: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Claim Boundary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Current safe claim: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The deployed prototype completes the search-to-report workflow.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T001-T003 comparison is reproducible from repository artifacts.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Full 20-task Proposed Agent runtime evaluation remains future work.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324612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Do not claim universal outperformance until the full benchmark supports it.</a:t>
            </a:r>
            <a:endParaRPr lang="en-US" sz="1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6A653A"/>
          </a:solidFill>
          <a:ln/>
          <a:effectLst>
            <a:outerShdw sx="100000" sy="100000" kx="0" ky="0" algn="bl" rotWithShape="0" blurRad="50800" dist="25400" dir="5400000">
              <a:srgbClr val="000000">
                <a:alpha val="3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 Limitations And Ethics</a:t>
            </a:r>
            <a:endParaRPr lang="en-US" sz="3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Known Limitations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External provider quota and availability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Metadata or DOI mismatch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Top-journal bias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OA PDF access limitations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Optional Vectorize and LLM Critic paths need additional validation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Ranking is decision support, not academic authority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6A653A"/>
          </a:solidFill>
          <a:ln/>
          <a:effectLst>
            <a:outerShdw sx="100000" sy="100000" kx="0" ky="0" algn="bl" rotWithShape="0" blurRad="50800" dist="25400" dir="5400000">
              <a:srgbClr val="000000">
                <a:alpha val="35000"/>
              </a:srgbClr>
            </a:outerShdw>
          </a:effectLst>
        </p:spPr>
      </p:sp>
      <p:sp>
        <p:nvSpPr>
          <p:cNvPr id="3" name="Text 1"/>
          <p:cNvSpPr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 Conclusion</a:t>
            </a:r>
            <a:endParaRPr lang="en-US" sz="3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0336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Final Positioning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Paper Agent is a deployed MVP-plus prototype that demonstrates: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822960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Multi-Agent workflow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RAG / Tool Use with scholarly APIs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MCP-based read inspection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Cloudflare deployment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Reproducible benchmark artifacts</a:t>
            </a:r>
            <a:endParaRPr lang="en-US" sz="1800" dirty="0"/>
          </a:p>
          <a:p>
            <a:pPr>
              <a:spcBef>
                <a:spcPts val="600"/>
              </a:spcBef>
              <a:spcAft>
                <a:spcPts val="300"/>
              </a:spcAft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Live dashboard and downloadable reports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4343400"/>
            <a:ext cx="8229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333333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Next work: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0116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ДЯКУЮ ЗА УВАГУ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3977640"/>
            <a:ext cx="3657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Військовий інститут</a:t>
            </a:r>
            <a:endParaRPr lang="en-US" sz="1400" dirty="0"/>
          </a:p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Open Sans" pitchFamily="34" charset="0"/>
                <a:ea typeface="Open Sans" pitchFamily="34" charset="-122"/>
                <a:cs typeface="Open Sans" pitchFamily="34" charset="-120"/>
              </a:rPr>
              <a:t>телекомунікацій та інформатизації імені Героїв Крут</a:t>
            </a:r>
            <a:endParaRPr lang="en-US" sz="140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15384" y="1188720"/>
            <a:ext cx="420624" cy="521208"/>
          </a:xfrm>
          <a:prstGeom prst="rect">
            <a:avLst/>
          </a:prstGeom>
        </p:spPr>
      </p:pic>
      <p:pic>
        <p:nvPicPr>
          <p:cNvPr id="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" y="3931920"/>
            <a:ext cx="274320" cy="3657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Військовий інститут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Дмитро УСТИНОВ</dc:creator>
  <cp:lastModifiedBy>Дмитро УСТИНОВ</cp:lastModifiedBy>
  <cp:revision>1</cp:revision>
  <dcterms:created xsi:type="dcterms:W3CDTF">2026-05-28T16:29:07Z</dcterms:created>
  <dcterms:modified xsi:type="dcterms:W3CDTF">2026-05-28T16:29:07Z</dcterms:modified>
</cp:coreProperties>
</file>